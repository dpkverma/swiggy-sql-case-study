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8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solidFill>
            <a:srgbClr val="FC801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572000"/>
            <a:ext cx="3840480" cy="3840480"/>
          </a:xfrm>
          <a:prstGeom prst="ellipse">
            <a:avLst/>
          </a:prstGeom>
          <a:solidFill>
            <a:srgbClr val="FC8019">
              <a:alpha val="1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965960"/>
            <a:ext cx="914400" cy="9144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965960" y="1874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965960" y="24871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  •  Case Study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SQL Queries &amp; Functions in MySQL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22960" y="4617720"/>
            <a:ext cx="3108960" cy="0"/>
          </a:xfrm>
          <a:prstGeom prst="line">
            <a:avLst/>
          </a:prstGeom>
          <a:noFill/>
          <a:ln w="25400">
            <a:solidFill>
              <a:srgbClr val="FC801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4892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Deepak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2960" y="52578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WSCube Tech  |  WSJP-136 - DAMP  |  Cohort-6  |  Milestone 2: Programming with SQL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32688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 Overview &amp; Dataset Structure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623560" cy="4663440"/>
          </a:xfrm>
          <a:prstGeom prst="roundRect">
            <a:avLst>
              <a:gd name="adj" fmla="val 1569"/>
            </a:avLst>
          </a:prstGeom>
          <a:solidFill>
            <a:srgbClr val="F7F5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73736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Context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5029200" cy="1417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Swiggy, one of India's leading food-delivery platforms, wants to unlock insights from its operational database to support marketing, finance, and customer-retention decisions. This case study uses SQL joins, aggregations, and subqueries to answer real business questions across customers, restaurants, and orders.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68680" y="37033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68680" y="406908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customer distribution &amp; engagement across cities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restaurant performance through ratings &amp; revenue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active vs. dormant customers for retention strategy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JOINs, GROUP BY, subqueries &amp; aggregate functions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46520" y="1508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Database: SwiggyDB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446520" y="1965960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629400" y="2103120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2103120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223760" y="203911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223760" y="2313432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records — id, name, email, phone, city, address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46520" y="2816352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2953512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17" name="Text 15"/>
          <p:cNvSpPr/>
          <p:nvPr/>
        </p:nvSpPr>
        <p:spPr>
          <a:xfrm>
            <a:off x="6629400" y="29535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23760" y="288950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223760" y="3163824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records — id, name, city, cuisine, rating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46520" y="3666744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9400" y="3803904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3803904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223760" y="373989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4014216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records — id, customer, restaurant, amount, status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4517136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629400" y="4654296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27" name="Text 25"/>
          <p:cNvSpPr/>
          <p:nvPr/>
        </p:nvSpPr>
        <p:spPr>
          <a:xfrm>
            <a:off x="6629400" y="4654296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223760" y="459028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DeliveryUpdates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223760" y="4864608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records — order tracking &amp; delivery status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46520" y="5367528"/>
            <a:ext cx="5120640" cy="713232"/>
          </a:xfrm>
          <a:prstGeom prst="roundRect">
            <a:avLst>
              <a:gd name="adj" fmla="val 8974"/>
            </a:avLst>
          </a:prstGeom>
          <a:solidFill>
            <a:srgbClr val="FFFFFF"/>
          </a:solidFill>
          <a:ln w="12700">
            <a:solidFill>
              <a:srgbClr val="EAE4DC"/>
            </a:solidFill>
            <a:prstDash val="solid"/>
          </a:ln>
          <a:effectLst>
            <a:outerShdw sx="100000" sy="100000" kx="0" ky="0" algn="bl" rotWithShape="0" blurRad="50800" dist="12700" dir="5400000">
              <a:srgbClr val="000000">
                <a:alpha val="6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629400" y="5504688"/>
            <a:ext cx="438912" cy="438912"/>
          </a:xfrm>
          <a:prstGeom prst="roundRect">
            <a:avLst>
              <a:gd name="adj" fmla="val 18750"/>
            </a:avLst>
          </a:prstGeom>
          <a:solidFill>
            <a:srgbClr val="FC8019"/>
          </a:solidFill>
          <a:ln/>
        </p:spPr>
      </p:sp>
      <p:sp>
        <p:nvSpPr>
          <p:cNvPr id="32" name="Text 30"/>
          <p:cNvSpPr/>
          <p:nvPr/>
        </p:nvSpPr>
        <p:spPr>
          <a:xfrm>
            <a:off x="6629400" y="55046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223760" y="544068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Complaints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7223760" y="5715000"/>
            <a:ext cx="4206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records — customer feedback &amp; resolution status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all customers who live in 'Delhi'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Swiggy's marketing team wants to run a location-based promotional campaign (festival offers, new restaurant launches) specifically for customers in Delhi.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customer_id,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'Delhi';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371600"/>
          </a:xfrm>
          <a:prstGeom prst="roundRect">
            <a:avLst>
              <a:gd name="adj" fmla="val 4000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Rohini Verma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 Kumar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Sonali Mishra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0" name="Shape 28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1" name="Text 29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customers are based in Delhi and are eligible for the city-specific campaign.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average rating of all restaurants in 'Mumbai'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evaluate the overall customer satisfaction level of restaurants in Mumbai by calculating their average rating.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city,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ROUND(AVG(rating), 1)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average_rating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city = 'Mumbai'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 city;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average_rating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4.3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21" name="Shape 1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4.3 average rating reflects strong food quality and service standards among Mumbai restaurant partners.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all customers who have placed at least one order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identify active customers who have made at least one purchase, for customer engagement and retention analysis.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EXISTS 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1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Orders o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c.customer_id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304288"/>
          </a:xfrm>
          <a:prstGeom prst="roundRect">
            <a:avLst>
              <a:gd name="adj" fmla="val 238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Sharma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Rohini Verma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Rajesh Gupta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Sneha Mehta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 Kumar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5830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more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out of 30 customers are active. This engaged base is the primary target for loyalty and upselling programs.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Q4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the total number of orders placed by each customer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Swiggy's customer success team wants to measure ordering frequency for every registered customer to design a loyalty rewards program.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COUNT(o.order_id)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total_orders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 c.name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total_orders DESC;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304288"/>
          </a:xfrm>
          <a:prstGeom prst="roundRect">
            <a:avLst>
              <a:gd name="adj" fmla="val 238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Manish Kumar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Rohini Verma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Rajesh Gupta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Singh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0412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Sharma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0412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24, 25...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0412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JOIN keeps every customer visible. Zero-order customers (24-30) are flagged as inactive for re-engagement.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total revenue generated by each restaurant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finance team wants to know confirmed revenue per restaurant (Completed orders only) to decide commission structures and partnership renewals.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r.restaurant_id,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COALESCE(SUM(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o.total_amount),0)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total_revenue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 r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r.restaurant_id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o.restaurant_id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AND o.status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'Completed'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r.restaurant_id, r.name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total_revenue DESC;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993392"/>
          </a:xfrm>
          <a:prstGeom prst="roundRect">
            <a:avLst>
              <a:gd name="adj" fmla="val 2752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(₹)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Biryani House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5,300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Awadhi Zaika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4,150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Andhra Spice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4,050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South Treat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2,950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Gujarat Express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2,550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House leads with ₹5,300 in confirmed revenue. Cancelled orders are excluded to avoid overstating earnings.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top 5 restaurants with the highest average rating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highlight top-performing restaurant partners on the app's homepage to boost customer trust and drive more orders.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restaurant_id,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name,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rating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Restaurants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rating IS NOT NULL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rating DESC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LIMIT 5;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993392"/>
          </a:xfrm>
          <a:prstGeom prst="roundRect">
            <a:avLst>
              <a:gd name="adj" fmla="val 2752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Biryani House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Paradise Biryani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4.8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Royal Biryani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Lucknowi Nawabi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Flavours of Bengal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1" name="Shape 2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Biryani-focused restaurants dominate the top ratings — strong candidates for homepage featuring.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Q7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all customers who have never placed an order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retention team wants to identify dormant/inactive customers to send re-engagement offers and win-back campaigns.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NOT EXISTS 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 1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Orders o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WHERE o.customer_id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= c.customer_id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615184"/>
          </a:xfrm>
          <a:prstGeom prst="roundRect">
            <a:avLst>
              <a:gd name="adj" fmla="val 2098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Sonal Kaur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Vivek Malhotra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Divya Iyer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27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Rakesh Yadav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Mona Sharma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5830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Sudha Pillai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445312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9258300" y="445312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Gaurav Khanna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6" name="Shape 34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7" name="Text 35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dormant customers can be targeted with first-order discounts or push notifications to drive activation.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Q8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the number of orders placed by each customer in 'Mumbai'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analyze customer ordering activity in Mumbai to understand local engagement and purchasing behavior.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c.name, c.city,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COUNT(o.order_id)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total_orders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LEFT 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o.customer_id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c.city = 'Mumbai'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 c.name,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c.city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 total_orders DESC;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682496"/>
          </a:xfrm>
          <a:prstGeom prst="roundRect">
            <a:avLst>
              <a:gd name="adj" fmla="val 326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Rajesh Gupta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Amit Sharma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Arjun Desai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Singh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0412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Mumbai customers are active order-placers, with Rajesh Gupta the most frequent at 3 orders.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Q9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Display all orders placed in the last 30 days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monitor recent customer activity by identifying all orders placed within the last 30 days, to track short-term demand trends.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order_id,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order_date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Orders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order_date &gt;= (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SELECT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MAX(order_date)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 INTERVAL 30 DAY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FROM Orders</a:t>
            </a:r>
            <a:endParaRPr lang="en-US" sz="11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304288"/>
          </a:xfrm>
          <a:prstGeom prst="roundRect">
            <a:avLst>
              <a:gd name="adj" fmla="val 238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258300" y="2258568"/>
            <a:ext cx="24003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order_date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72084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9258300" y="258775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2024-08-01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1" name="Text 19"/>
          <p:cNvSpPr/>
          <p:nvPr/>
        </p:nvSpPr>
        <p:spPr>
          <a:xfrm>
            <a:off x="672084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898648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258300" y="3209544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2024-08-04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6" name="Text 24"/>
          <p:cNvSpPr/>
          <p:nvPr/>
        </p:nvSpPr>
        <p:spPr>
          <a:xfrm>
            <a:off x="672084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3520440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2084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258300" y="3831336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2024-08-03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1" name="Text 29"/>
          <p:cNvSpPr/>
          <p:nvPr/>
        </p:nvSpPr>
        <p:spPr>
          <a:xfrm>
            <a:off x="672084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...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258300" y="4142232"/>
            <a:ext cx="24003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 more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54 orders fall within the last 30 days of activity (Aug 1 - Aug 15), showing the entire dataset reflects recent, active demand.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 all delivery partners who have completed more than 1 delivery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Swiggy's operations team wants to evaluate delivery partner activity and workload by identifying partners who have completed more than one delivery.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d.partner_id,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COUNT(DISTINCT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od.order_id)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total_delivery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DeliveryPartners 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OrderDelivery od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d.partner_id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od.partner_id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DeliveryUpdates du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od.order_id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du.order_id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du.status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'Delivered'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d.partner_id, d.name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total_delivery &gt; 1;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682496"/>
          </a:xfrm>
          <a:prstGeom prst="roundRect">
            <a:avLst>
              <a:gd name="adj" fmla="val 326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deliveries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Ravi Kumar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Suresh Reddy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Anita Desai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Reena Rao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0412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delivery partners have completed multiple deliveries. Suresh Reddy leads with 3 — a candidate for performance recognition.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customers who placed orders on exactly 3 different days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identify customers who order regularly but not excessively, by finding those active on exactly three distinct days.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c.name,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COUNT(DISTINCT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DATE(o.order_date))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AS unique_date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 =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o.customer_id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BY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c.customer_id, c.name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HAVING unique_date = 3;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2304288"/>
          </a:xfrm>
          <a:prstGeom prst="roundRect">
            <a:avLst>
              <a:gd name="adj" fmla="val 2381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41248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0104120" y="225856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unique_days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2084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Rohini Verma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104120" y="258775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3" name="Text 21"/>
          <p:cNvSpPr/>
          <p:nvPr/>
        </p:nvSpPr>
        <p:spPr>
          <a:xfrm>
            <a:off x="672084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41248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Priya Singh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104120" y="2898648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41248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Anjali Patel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104120" y="3209544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29400" y="3520440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0" name="Text 28"/>
          <p:cNvSpPr/>
          <p:nvPr/>
        </p:nvSpPr>
        <p:spPr>
          <a:xfrm>
            <a:off x="672084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41248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Nidhi Saxena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104120" y="3520440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72084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41248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Ashok Kumar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104120" y="3831336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9400" y="4142232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37" name="Text 35"/>
          <p:cNvSpPr/>
          <p:nvPr/>
        </p:nvSpPr>
        <p:spPr>
          <a:xfrm>
            <a:off x="672084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41248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Sonali Mishra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0104120" y="4142232"/>
            <a:ext cx="1554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41" name="Shape 39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customers show moderate, consistent ordering activity across 3 distinct days — ideal targets for steady engagement campaigns.</a:t>
            </a:r>
            <a:endParaRPr lang="en-US" sz="1150" dirty="0"/>
          </a:p>
        </p:txBody>
      </p:sp>
      <p:sp>
        <p:nvSpPr>
          <p:cNvPr id="44" name="Text 4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777240" cy="777240"/>
          </a:xfrm>
          <a:prstGeom prst="roundRect">
            <a:avLst>
              <a:gd name="adj" fmla="val 18824"/>
            </a:avLst>
          </a:prstGeom>
          <a:solidFill>
            <a:srgbClr val="FC801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Q13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417320" y="365760"/>
            <a:ext cx="102412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82C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 in the same city ordering from the same restaurant on different dates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417320" y="841248"/>
            <a:ext cx="10241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17320" y="1097280"/>
            <a:ext cx="102412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wants to identify customers from the same city who prefer the same restaurant but order on different dates, to understand shared local preferences.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5989320" cy="2880360"/>
          </a:xfrm>
          <a:prstGeom prst="roundRect">
            <a:avLst>
              <a:gd name="adj" fmla="val 2540"/>
            </a:avLst>
          </a:prstGeom>
          <a:solidFill>
            <a:srgbClr val="1E2130"/>
          </a:solidFill>
          <a:ln/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13055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77824" y="213055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97280" y="213055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2075688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Query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377440"/>
            <a:ext cx="5577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 DISTINCT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c1.customer_id,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c1.city,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o.restaurant_id,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DATE(o.order_date)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Customers c1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c1.customer_id=o.customer_id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Customers c2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c1.city = c2.city AND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c1.customer_id&lt;c2.customer_id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JOIN Orders o2 ON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c2.customer_id=o2.customer_id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AND o.restaurant_id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= o2.restaurant_id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DATE(o.order_date)</a:t>
            </a:r>
            <a:endParaRPr lang="en-US" sz="10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E9E9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&lt;&gt; DATE(o2.order_date);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29400" y="1947672"/>
            <a:ext cx="5074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Output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29400" y="2258568"/>
            <a:ext cx="5074920" cy="1371600"/>
          </a:xfrm>
          <a:prstGeom prst="roundRect">
            <a:avLst>
              <a:gd name="adj" fmla="val 4000"/>
            </a:avLst>
          </a:prstGeom>
          <a:solidFill>
            <a:srgbClr val="F7F5F2"/>
          </a:solidFill>
          <a:ln w="12700">
            <a:solidFill>
              <a:srgbClr val="EAE4D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629400" y="2258568"/>
            <a:ext cx="5074920" cy="329184"/>
          </a:xfrm>
          <a:prstGeom prst="rect">
            <a:avLst/>
          </a:prstGeom>
          <a:solidFill>
            <a:srgbClr val="282C3F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2258568"/>
            <a:ext cx="11315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cust_id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989570" y="2258568"/>
            <a:ext cx="11315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258300" y="2258568"/>
            <a:ext cx="11315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rest_id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0527030" y="2258568"/>
            <a:ext cx="113157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20840" y="2587752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989570" y="2587752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258300" y="2587752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27030" y="2587752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2024-08-04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29400" y="2898648"/>
            <a:ext cx="5074920" cy="31089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25" name="Text 23"/>
          <p:cNvSpPr/>
          <p:nvPr/>
        </p:nvSpPr>
        <p:spPr>
          <a:xfrm>
            <a:off x="6720840" y="2898648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89570" y="2898648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Mumbai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58300" y="2898648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0527030" y="2898648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20840" y="3209544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89570" y="3209544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Delhi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9258300" y="3209544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0527030" y="3209544"/>
            <a:ext cx="11315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82C3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2024-08-07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57200" y="5010912"/>
            <a:ext cx="11247120" cy="658368"/>
          </a:xfrm>
          <a:prstGeom prst="roundRect">
            <a:avLst>
              <a:gd name="adj" fmla="val 11111"/>
            </a:avLst>
          </a:prstGeom>
          <a:solidFill>
            <a:srgbClr val="FFF1E6"/>
          </a:solidFill>
          <a:ln/>
        </p:spPr>
      </p:sp>
      <p:sp>
        <p:nvSpPr>
          <p:cNvPr id="34" name="Shape 32"/>
          <p:cNvSpPr/>
          <p:nvPr/>
        </p:nvSpPr>
        <p:spPr>
          <a:xfrm>
            <a:off x="594360" y="5148072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C8019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514807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1143000" y="5010912"/>
            <a:ext cx="10424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Insight:  </a:t>
            </a:r>
            <a:pPr indent="0" marL="0">
              <a:buNone/>
            </a:pPr>
            <a:r>
              <a:rPr lang="en-US" sz="1150" dirty="0">
                <a:solidFill>
                  <a:srgbClr val="282C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5 (Delhi) repeatedly ordered from restaurant 3 on different dates — a strong signal of consistent local restaurant popularity.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SQL Case Study  |  WSJP-136 DAMP  |  Cohort-6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82C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4389120"/>
            <a:ext cx="3840480" cy="3840480"/>
          </a:xfrm>
          <a:prstGeom prst="ellipse">
            <a:avLst/>
          </a:prstGeom>
          <a:solidFill>
            <a:srgbClr val="FC8019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097280"/>
            <a:ext cx="2377440" cy="0"/>
          </a:xfrm>
          <a:prstGeom prst="line">
            <a:avLst/>
          </a:prstGeom>
          <a:noFill/>
          <a:ln w="25400">
            <a:solidFill>
              <a:srgbClr val="FC801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Insights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of 30 customers are active; the remaining 7 are dormant and need win-back campaigns.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355080" y="155448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29400" y="182880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12" name="Text 10"/>
          <p:cNvSpPr/>
          <p:nvPr/>
        </p:nvSpPr>
        <p:spPr>
          <a:xfrm>
            <a:off x="6629400" y="1828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223760" y="181051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Performance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629400" y="242316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Biryani House leads in both rating (4.8) and revenue (₹5,300) — a top partnership priority.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42793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City-Level Trends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22960" y="48920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and Mumbai show healthy customer bases, useful for regional campaign targeting.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5508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1F2233"/>
          </a:solidFill>
          <a:ln w="12700">
            <a:solidFill>
              <a:srgbClr val="3A3F5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29400" y="4297680"/>
            <a:ext cx="457200" cy="457200"/>
          </a:xfrm>
          <a:prstGeom prst="roundRect">
            <a:avLst>
              <a:gd name="adj" fmla="val 20000"/>
            </a:avLst>
          </a:prstGeom>
          <a:solidFill>
            <a:srgbClr val="FC8019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2976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223760" y="4279392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Techniques Applied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6629400" y="4892040"/>
            <a:ext cx="48920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9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INNER/LEFT JOINs, EXISTS subqueries, GROUP BY, aggregate functions (SUM, AVG, COUNT).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8F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Prepared by Deepak  |  WSCube Tech, Cohort-6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2026-07-21T04:03:20Z</dcterms:created>
  <dcterms:modified xsi:type="dcterms:W3CDTF">2026-07-21T04:03:20Z</dcterms:modified>
</cp:coreProperties>
</file>